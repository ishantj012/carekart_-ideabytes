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4754880" cy="4754880"/>
          </a:xfrm>
          <a:prstGeom prst="ellipse">
            <a:avLst/>
          </a:prstGeom>
          <a:solidFill>
            <a:srgbClr val="0FB5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560320"/>
            <a:ext cx="3840480" cy="3840480"/>
          </a:xfrm>
          <a:prstGeom prst="ellipse">
            <a:avLst/>
          </a:prstGeom>
          <a:solidFill>
            <a:srgbClr val="1D5FD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566160"/>
            <a:ext cx="2560320" cy="2560320"/>
          </a:xfrm>
          <a:prstGeom prst="ellipse">
            <a:avLst/>
          </a:prstGeom>
          <a:solidFill>
            <a:srgbClr val="0FB5A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628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603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IDEATHON  ·  HEALTHCARE TECH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Hospital Price &amp; Comparison Bot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E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Find. Compare. Choose Better Healthcare.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IDEABYTES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04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Lath   ·   Sharwan Jaiswal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72200" y="457200"/>
            <a:ext cx="2377440" cy="4206240"/>
          </a:xfrm>
          <a:prstGeom prst="roundRect">
            <a:avLst>
              <a:gd name="adj" fmla="val 11538"/>
            </a:avLst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81928" y="566928"/>
            <a:ext cx="2157984" cy="3986784"/>
          </a:xfrm>
          <a:prstGeom prst="roundRect">
            <a:avLst>
              <a:gd name="adj" fmla="val 93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81928" y="566928"/>
            <a:ext cx="2157984" cy="640080"/>
          </a:xfrm>
          <a:prstGeom prst="roundRect">
            <a:avLst>
              <a:gd name="adj" fmla="val 31429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81928" y="914400"/>
            <a:ext cx="2157984" cy="292608"/>
          </a:xfrm>
          <a:prstGeom prst="rect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658368"/>
            <a:ext cx="384048" cy="384048"/>
          </a:xfrm>
          <a:prstGeom prst="ellipse">
            <a:avLst/>
          </a:prstGeom>
          <a:solidFill>
            <a:srgbClr val="0B7C7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754380"/>
            <a:ext cx="192024" cy="19202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858000" y="6766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Assistant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0" y="13716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73952" y="140817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Which treatment do you need?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995160" y="205740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040880" y="2057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brain scan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0" y="2560320"/>
            <a:ext cx="1691640" cy="411480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73952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hospitals near you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00800" y="31089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73952" y="3154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Govt. Hospital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473952" y="34015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₹3,200  ·  6.4 km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0" y="3886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53796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CareKart…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Delhi hospital shouldn’t be guesswork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463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E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between a patient and a confident healthcare decision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faced under time and money pressure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32588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84448" y="1399032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604" y="1504188"/>
            <a:ext cx="210312" cy="21031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114800" y="1380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prices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1380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costs vary and are rarely listed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0" y="2007108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84448" y="2080260"/>
            <a:ext cx="420624" cy="420624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185416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114800" y="20619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852160" y="20619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scattered across sites and calls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474720" y="2688336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584448" y="2761488"/>
            <a:ext cx="420624" cy="420624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2866644"/>
            <a:ext cx="210312" cy="2103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114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fit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85216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match by budget, type or need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474720" y="3369564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584448" y="3442716"/>
            <a:ext cx="420624" cy="420624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3547872"/>
            <a:ext cx="210312" cy="21031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114800" y="34244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options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5852160" y="34244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local stats not visible at a glance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474720" y="4050792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584448" y="4123944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4229100"/>
            <a:ext cx="210312" cy="21031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114800" y="4105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info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852160" y="4105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&amp; fire contacts hard to find quickly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THE GAP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options help — but leave critical gaps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transparency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comparison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filters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1865376"/>
            <a:ext cx="329184" cy="329184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947672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60120" y="1801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websites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64992" y="1920240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21" name="Shape 18"/>
          <p:cNvSpPr/>
          <p:nvPr/>
        </p:nvSpPr>
        <p:spPr>
          <a:xfrm>
            <a:off x="4828032" y="1920240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22" name="Shape 19"/>
          <p:cNvSpPr/>
          <p:nvPr/>
        </p:nvSpPr>
        <p:spPr>
          <a:xfrm>
            <a:off x="6291072" y="1920240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23" name="Shape 20"/>
          <p:cNvSpPr/>
          <p:nvPr/>
        </p:nvSpPr>
        <p:spPr>
          <a:xfrm>
            <a:off x="7754112" y="1920240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229514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41448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60120" y="2295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364992" y="2414016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29" name="Shape 25"/>
          <p:cNvSpPr/>
          <p:nvPr/>
        </p:nvSpPr>
        <p:spPr>
          <a:xfrm>
            <a:off x="4828032" y="2414016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30" name="Shape 26"/>
          <p:cNvSpPr/>
          <p:nvPr/>
        </p:nvSpPr>
        <p:spPr>
          <a:xfrm>
            <a:off x="6291072" y="2414016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1" name="Shape 27"/>
          <p:cNvSpPr/>
          <p:nvPr/>
        </p:nvSpPr>
        <p:spPr>
          <a:xfrm>
            <a:off x="7754112" y="2414016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32" name="Shape 28"/>
          <p:cNvSpPr/>
          <p:nvPr/>
        </p:nvSpPr>
        <p:spPr>
          <a:xfrm>
            <a:off x="457200" y="278892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48640" y="2852928"/>
            <a:ext cx="329184" cy="329184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935224"/>
            <a:ext cx="164592" cy="16459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6012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platforms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3364992" y="2907792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7" name="Shape 32"/>
          <p:cNvSpPr/>
          <p:nvPr/>
        </p:nvSpPr>
        <p:spPr>
          <a:xfrm>
            <a:off x="4828032" y="2907792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8" name="Shape 33"/>
          <p:cNvSpPr/>
          <p:nvPr/>
        </p:nvSpPr>
        <p:spPr>
          <a:xfrm>
            <a:off x="6291072" y="2907792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9" name="Shape 34"/>
          <p:cNvSpPr/>
          <p:nvPr/>
        </p:nvSpPr>
        <p:spPr>
          <a:xfrm>
            <a:off x="7754112" y="2907792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40" name="Shape 35"/>
          <p:cNvSpPr/>
          <p:nvPr/>
        </p:nvSpPr>
        <p:spPr>
          <a:xfrm>
            <a:off x="457200" y="328269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548640" y="3346704"/>
            <a:ext cx="329184" cy="329184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429000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60120" y="32826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enquiries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3364992" y="3401568"/>
            <a:ext cx="219456" cy="219456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45" name="Shape 39"/>
          <p:cNvSpPr/>
          <p:nvPr/>
        </p:nvSpPr>
        <p:spPr>
          <a:xfrm>
            <a:off x="4828032" y="3401568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46" name="Shape 40"/>
          <p:cNvSpPr/>
          <p:nvPr/>
        </p:nvSpPr>
        <p:spPr>
          <a:xfrm>
            <a:off x="6291072" y="3401568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47" name="Shape 41"/>
          <p:cNvSpPr/>
          <p:nvPr/>
        </p:nvSpPr>
        <p:spPr>
          <a:xfrm>
            <a:off x="7754112" y="3401568"/>
            <a:ext cx="219456" cy="219456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48" name="Shape 42"/>
          <p:cNvSpPr/>
          <p:nvPr/>
        </p:nvSpPr>
        <p:spPr>
          <a:xfrm>
            <a:off x="457200" y="377647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DDF7F3"/>
          </a:solidFill>
          <a:ln w="19050">
            <a:solidFill>
              <a:srgbClr val="0FB5A6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548640" y="3840480"/>
            <a:ext cx="329184" cy="329184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922776"/>
            <a:ext cx="164592" cy="164592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960120" y="3776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3364992" y="3895344"/>
            <a:ext cx="219456" cy="219456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3" name="Shape 46"/>
          <p:cNvSpPr/>
          <p:nvPr/>
        </p:nvSpPr>
        <p:spPr>
          <a:xfrm>
            <a:off x="4828032" y="3895344"/>
            <a:ext cx="219456" cy="219456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4" name="Shape 47"/>
          <p:cNvSpPr/>
          <p:nvPr/>
        </p:nvSpPr>
        <p:spPr>
          <a:xfrm>
            <a:off x="6291072" y="3895344"/>
            <a:ext cx="219456" cy="219456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5" name="Shape 48"/>
          <p:cNvSpPr/>
          <p:nvPr/>
        </p:nvSpPr>
        <p:spPr>
          <a:xfrm>
            <a:off x="7754112" y="3895344"/>
            <a:ext cx="219456" cy="219456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6" name="Shape 49"/>
          <p:cNvSpPr/>
          <p:nvPr/>
        </p:nvSpPr>
        <p:spPr>
          <a:xfrm>
            <a:off x="457200" y="4343400"/>
            <a:ext cx="5394960" cy="411480"/>
          </a:xfrm>
          <a:prstGeom prst="roundRect">
            <a:avLst>
              <a:gd name="adj" fmla="val 22222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594360" y="43434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single place for transparent prices + side-by-side comparison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6172200" y="4462272"/>
            <a:ext cx="182880" cy="18288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6400800" y="4434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7086600" y="4462272"/>
            <a:ext cx="182880" cy="18288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61" name="Text 54"/>
          <p:cNvSpPr txBox="1"/>
          <p:nvPr/>
        </p:nvSpPr>
        <p:spPr>
          <a:xfrm>
            <a:off x="7315200" y="4434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62" name="Shape 55"/>
          <p:cNvSpPr/>
          <p:nvPr/>
        </p:nvSpPr>
        <p:spPr>
          <a:xfrm>
            <a:off x="8001000" y="4462272"/>
            <a:ext cx="182880" cy="182880"/>
          </a:xfrm>
          <a:prstGeom prst="ellipse">
            <a:avLst/>
          </a:prstGeom>
          <a:solidFill>
            <a:srgbClr val="C9D3DF"/>
          </a:solidFill>
          <a:ln/>
        </p:spPr>
      </p:sp>
      <p:sp>
        <p:nvSpPr>
          <p:cNvPr id="63" name="Text 56"/>
          <p:cNvSpPr txBox="1"/>
          <p:nvPr/>
        </p:nvSpPr>
        <p:spPr>
          <a:xfrm>
            <a:off x="8229600" y="4434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CareKart: one place to search, filter and compare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737360"/>
            <a:ext cx="777240" cy="1234440"/>
          </a:xfrm>
          <a:prstGeom prst="line">
            <a:avLst/>
          </a:prstGeom>
          <a:noFill/>
          <a:ln w="25400">
            <a:solidFill>
              <a:srgbClr val="8FD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971800"/>
            <a:ext cx="777240" cy="0"/>
          </a:xfrm>
          <a:prstGeom prst="line">
            <a:avLst/>
          </a:prstGeom>
          <a:noFill/>
          <a:ln w="25400">
            <a:solidFill>
              <a:srgbClr val="8FD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108960" y="2971800"/>
            <a:ext cx="777240" cy="1234440"/>
          </a:xfrm>
          <a:prstGeom prst="line">
            <a:avLst/>
          </a:prstGeom>
          <a:noFill/>
          <a:ln w="25400">
            <a:solidFill>
              <a:srgbClr val="8FD3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257800" y="1737360"/>
            <a:ext cx="777240" cy="1234440"/>
          </a:xfrm>
          <a:prstGeom prst="line">
            <a:avLst/>
          </a:prstGeom>
          <a:noFill/>
          <a:ln w="25400">
            <a:solidFill>
              <a:srgbClr val="8F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2971800"/>
            <a:ext cx="777240" cy="0"/>
          </a:xfrm>
          <a:prstGeom prst="line">
            <a:avLst/>
          </a:prstGeom>
          <a:noFill/>
          <a:ln w="25400">
            <a:solidFill>
              <a:srgbClr val="8FD3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2971800"/>
            <a:ext cx="777240" cy="1234440"/>
          </a:xfrm>
          <a:prstGeom prst="line">
            <a:avLst/>
          </a:prstGeom>
          <a:noFill/>
          <a:ln w="25400">
            <a:solidFill>
              <a:srgbClr val="8FD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240280"/>
            <a:ext cx="1463040" cy="14630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2011680"/>
            <a:ext cx="1920240" cy="1920240"/>
          </a:xfrm>
          <a:prstGeom prst="ellipse">
            <a:avLst/>
          </a:prstGeom>
          <a:solidFill>
            <a:srgbClr val="0FB5A6">
              <a:alpha val="15000"/>
            </a:srgbClr>
          </a:solidFill>
          <a:ln w="12700">
            <a:solidFill>
              <a:srgbClr val="0FB5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429000" y="1828800"/>
            <a:ext cx="2286000" cy="2286000"/>
          </a:xfrm>
          <a:prstGeom prst="ellipse">
            <a:avLst/>
          </a:prstGeom>
          <a:solidFill>
            <a:srgbClr val="0FB5A6">
              <a:alpha val="7000"/>
            </a:srgbClr>
          </a:solidFill>
          <a:ln w="9525">
            <a:solidFill>
              <a:srgbClr val="0FB5A6"/>
            </a:solidFill>
            <a:prstDash val="dash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487168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84048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132588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5216" y="1499616"/>
            <a:ext cx="475488" cy="475488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18488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88720" y="1453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treatments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188720" y="1746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by name or symptom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25603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85216" y="2734056"/>
            <a:ext cx="475488" cy="47548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852928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8872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hospitals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118872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hospitals in one list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57200" y="37947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85216" y="3968496"/>
            <a:ext cx="475488" cy="475488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087368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188720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188720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&amp; hospital type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035040" y="132588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163056" y="1499616"/>
            <a:ext cx="475488" cy="47548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618488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766560" y="1453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quick stats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6766560" y="1746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rating, key facts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6035040" y="256032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163056" y="2734056"/>
            <a:ext cx="475488" cy="475488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2852928"/>
            <a:ext cx="237744" cy="23774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676656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compare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676656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parameters together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163056" y="3968496"/>
            <a:ext cx="475488" cy="47548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408736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766560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6766560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&amp; fire at a tap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291840" cy="3291840"/>
          </a:xfrm>
          <a:prstGeom prst="ellipse">
            <a:avLst/>
          </a:prstGeom>
          <a:solidFill>
            <a:srgbClr val="0FB5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840480"/>
            <a:ext cx="2377440" cy="2377440"/>
          </a:xfrm>
          <a:prstGeom prst="ellipse">
            <a:avLst/>
          </a:prstGeom>
          <a:solidFill>
            <a:srgbClr val="1D5FD1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“I need help” to an informed choice in 8 steps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0" y="2651760"/>
            <a:ext cx="0" cy="205740"/>
          </a:xfrm>
          <a:prstGeom prst="line">
            <a:avLst/>
          </a:prstGeom>
          <a:noFill/>
          <a:ln w="25400">
            <a:solidFill>
              <a:srgbClr val="0FB5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71600" y="2857500"/>
            <a:ext cx="6309360" cy="0"/>
          </a:xfrm>
          <a:prstGeom prst="line">
            <a:avLst/>
          </a:prstGeom>
          <a:noFill/>
          <a:ln w="25400">
            <a:solidFill>
              <a:srgbClr val="0FB5A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71600" y="2857500"/>
            <a:ext cx="0" cy="205740"/>
          </a:xfrm>
          <a:prstGeom prst="line">
            <a:avLst/>
          </a:prstGeom>
          <a:noFill/>
          <a:ln w="25400">
            <a:solidFill>
              <a:srgbClr val="0FB5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45920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20208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CareKart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app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22576" y="1874520"/>
            <a:ext cx="201168" cy="219456"/>
          </a:xfrm>
          <a:prstGeom prst="rightArrow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697480" y="1463040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57734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749040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2697480" y="20208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asks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26974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need?”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425696" y="1874520"/>
            <a:ext cx="201168" cy="219456"/>
          </a:xfrm>
          <a:prstGeom prst="rightArrow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800600" y="1463040"/>
            <a:ext cx="457200" cy="457200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57734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852160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5"/>
          <p:cNvSpPr txBox="1"/>
          <p:nvPr/>
        </p:nvSpPr>
        <p:spPr>
          <a:xfrm>
            <a:off x="4800600" y="20208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found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480060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identified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528816" y="1874520"/>
            <a:ext cx="201168" cy="219456"/>
          </a:xfrm>
          <a:prstGeom prst="rightArrow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766560" y="132588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903720" y="1463040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577340"/>
            <a:ext cx="228600" cy="2286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955280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1"/>
          <p:cNvSpPr txBox="1"/>
          <p:nvPr/>
        </p:nvSpPr>
        <p:spPr>
          <a:xfrm>
            <a:off x="6903720" y="20208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filters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690372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hospital type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57200" y="306324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314700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64592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Text 36"/>
          <p:cNvSpPr txBox="1"/>
          <p:nvPr/>
        </p:nvSpPr>
        <p:spPr>
          <a:xfrm>
            <a:off x="59436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results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59436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Delhi options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2322576" y="3611880"/>
            <a:ext cx="201168" cy="219456"/>
          </a:xfrm>
          <a:prstGeom prst="rightArrow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560320" y="306324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2697480" y="3200400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780" y="3314700"/>
            <a:ext cx="228600" cy="22860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374904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0" name="Text 42"/>
          <p:cNvSpPr txBox="1"/>
          <p:nvPr/>
        </p:nvSpPr>
        <p:spPr>
          <a:xfrm>
            <a:off x="269748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stats</a:t>
            </a:r>
            <a:endParaRPr lang="en-US" sz="1400" dirty="0"/>
          </a:p>
        </p:txBody>
      </p:sp>
      <p:sp>
        <p:nvSpPr>
          <p:cNvPr id="51" name="Text 43"/>
          <p:cNvSpPr txBox="1"/>
          <p:nvPr/>
        </p:nvSpPr>
        <p:spPr>
          <a:xfrm>
            <a:off x="269748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rating, nearby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4425696" y="3611880"/>
            <a:ext cx="201168" cy="219456"/>
          </a:xfrm>
          <a:prstGeom prst="rightArrow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663440" y="306324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4800600" y="3200400"/>
            <a:ext cx="457200" cy="457200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314700"/>
            <a:ext cx="228600" cy="22860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585216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57" name="Text 48"/>
          <p:cNvSpPr txBox="1"/>
          <p:nvPr/>
        </p:nvSpPr>
        <p:spPr>
          <a:xfrm>
            <a:off x="480060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58" name="Text 49"/>
          <p:cNvSpPr txBox="1"/>
          <p:nvPr/>
        </p:nvSpPr>
        <p:spPr>
          <a:xfrm>
            <a:off x="48006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view</a:t>
            </a:r>
            <a:endParaRPr lang="en-US" sz="1200" dirty="0"/>
          </a:p>
        </p:txBody>
      </p:sp>
      <p:sp>
        <p:nvSpPr>
          <p:cNvPr id="59" name="Shape 50"/>
          <p:cNvSpPr/>
          <p:nvPr/>
        </p:nvSpPr>
        <p:spPr>
          <a:xfrm>
            <a:off x="6528816" y="3611880"/>
            <a:ext cx="201168" cy="219456"/>
          </a:xfrm>
          <a:prstGeom prst="rightArrow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6766560" y="306324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6903720" y="3200400"/>
            <a:ext cx="457200" cy="457200"/>
          </a:xfrm>
          <a:prstGeom prst="ellipse">
            <a:avLst/>
          </a:prstGeom>
          <a:solidFill>
            <a:srgbClr val="0B7C73"/>
          </a:solidFill>
          <a:ln/>
        </p:spPr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3314700"/>
            <a:ext cx="228600" cy="228600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795528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64" name="Text 54"/>
          <p:cNvSpPr txBox="1"/>
          <p:nvPr/>
        </p:nvSpPr>
        <p:spPr>
          <a:xfrm>
            <a:off x="690372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choice</a:t>
            </a:r>
            <a:endParaRPr lang="en-US" sz="1400" dirty="0"/>
          </a:p>
        </p:txBody>
      </p:sp>
      <p:sp>
        <p:nvSpPr>
          <p:cNvPr id="65" name="Text 55"/>
          <p:cNvSpPr txBox="1"/>
          <p:nvPr/>
        </p:nvSpPr>
        <p:spPr>
          <a:xfrm>
            <a:off x="690372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confidence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patient needs to decide, in one app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508760"/>
            <a:ext cx="566928" cy="56692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650492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21792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opening chatbot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2459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from the first tap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60320" y="13258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24912" y="1508760"/>
            <a:ext cx="566928" cy="566928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165049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24912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search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724912" y="2459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procedures quickly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63440" y="13258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28032" y="1508760"/>
            <a:ext cx="566928" cy="56692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1650492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28032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Price-range filter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828032" y="2459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budget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766560" y="132588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31152" y="1508760"/>
            <a:ext cx="566928" cy="566928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84" y="1650492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31152" y="2167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Hospital-type filter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931152" y="2459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Govt, private &amp; more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301752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21792" y="3200400"/>
            <a:ext cx="566928" cy="56692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342132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21792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quick stats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" y="4151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local snapshot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2560320" y="301752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724912" y="3200400"/>
            <a:ext cx="566928" cy="566928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644" y="3342132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724912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comparison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2724912" y="4151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parameters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663440" y="301752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828032" y="3200400"/>
            <a:ext cx="566928" cy="566928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764" y="3342132"/>
            <a:ext cx="283464" cy="28346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828032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4828032" y="4151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&amp; Fire numbers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6766560" y="301752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931152" y="3200400"/>
            <a:ext cx="566928" cy="566928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884" y="3342132"/>
            <a:ext cx="283464" cy="28346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931152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</a:t>
            </a:r>
            <a:endParaRPr lang="en-US" sz="1400" dirty="0"/>
          </a:p>
        </p:txBody>
      </p:sp>
      <p:sp>
        <p:nvSpPr>
          <p:cNvPr id="49" name="Text 39"/>
          <p:cNvSpPr txBox="1"/>
          <p:nvPr/>
        </p:nvSpPr>
        <p:spPr>
          <a:xfrm>
            <a:off x="6931152" y="4151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user-friendly flow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COMPARISON EXPERIENCE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price, distance and quality at a glance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8229600" cy="320040"/>
          </a:xfrm>
          <a:prstGeom prst="roundRect">
            <a:avLst>
              <a:gd name="adj" fmla="val 28571"/>
            </a:avLst>
          </a:prstGeom>
          <a:solidFill>
            <a:srgbClr val="E3ECF5"/>
          </a:solidFill>
          <a:ln w="12700">
            <a:solidFill>
              <a:srgbClr val="E3EC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71600"/>
            <a:ext cx="8229600" cy="137160"/>
          </a:xfrm>
          <a:prstGeom prst="rect">
            <a:avLst/>
          </a:prstGeom>
          <a:solidFill>
            <a:srgbClr val="E3ECF5"/>
          </a:solidFill>
          <a:ln w="12700">
            <a:solidFill>
              <a:srgbClr val="E3EC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289304"/>
            <a:ext cx="100584" cy="100584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1289304"/>
            <a:ext cx="100584" cy="100584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1289304"/>
            <a:ext cx="100584" cy="10058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1261872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1261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carekart.in/compare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162763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Brain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162763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28800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₹8,000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162763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63240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162763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10 km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2011680"/>
            <a:ext cx="2011680" cy="2423160"/>
          </a:xfrm>
          <a:prstGeom prst="roundRect">
            <a:avLst>
              <a:gd name="adj" fmla="val 4545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77240" y="2103120"/>
            <a:ext cx="640080" cy="1005840"/>
          </a:xfrm>
          <a:prstGeom prst="line">
            <a:avLst/>
          </a:prstGeom>
          <a:noFill/>
          <a:ln w="12700">
            <a:solidFill>
              <a:srgbClr val="BBD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60120" y="2103120"/>
            <a:ext cx="1097280" cy="676656"/>
          </a:xfrm>
          <a:prstGeom prst="line">
            <a:avLst/>
          </a:prstGeom>
          <a:noFill/>
          <a:ln w="12700">
            <a:solidFill>
              <a:srgbClr val="BBD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05840" y="2103120"/>
            <a:ext cx="1211580" cy="1005840"/>
          </a:xfrm>
          <a:prstGeom prst="line">
            <a:avLst/>
          </a:prstGeom>
          <a:noFill/>
          <a:ln w="12700">
            <a:solidFill>
              <a:srgbClr val="BBD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31520" y="2103120"/>
            <a:ext cx="525780" cy="786384"/>
          </a:xfrm>
          <a:prstGeom prst="line">
            <a:avLst/>
          </a:prstGeom>
          <a:noFill/>
          <a:ln w="12700">
            <a:solidFill>
              <a:srgbClr val="BBD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051560" y="2103120"/>
            <a:ext cx="1325880" cy="1225296"/>
          </a:xfrm>
          <a:prstGeom prst="line">
            <a:avLst/>
          </a:prstGeom>
          <a:noFill/>
          <a:ln w="12700">
            <a:solidFill>
              <a:srgbClr val="BBD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94360" y="2743200"/>
            <a:ext cx="2011680" cy="548640"/>
          </a:xfrm>
          <a:prstGeom prst="line">
            <a:avLst/>
          </a:prstGeom>
          <a:noFill/>
          <a:ln w="38100">
            <a:solidFill>
              <a:srgbClr val="BBD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3040" y="2011680"/>
            <a:ext cx="274320" cy="2423160"/>
          </a:xfrm>
          <a:prstGeom prst="line">
            <a:avLst/>
          </a:prstGeom>
          <a:noFill/>
          <a:ln w="38100">
            <a:solidFill>
              <a:srgbClr val="BBD3EA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292608" cy="292608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063240"/>
            <a:ext cx="292608" cy="292608"/>
          </a:xfrm>
          <a:prstGeom prst="rect">
            <a:avLst/>
          </a:prstGeom>
        </p:spPr>
      </p:pic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31520" y="4114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nearby results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931920" y="2011680"/>
            <a:ext cx="1536192" cy="2423160"/>
          </a:xfrm>
          <a:prstGeom prst="roundRect">
            <a:avLst>
              <a:gd name="adj" fmla="val 4762"/>
            </a:avLst>
          </a:prstGeom>
          <a:solidFill>
            <a:srgbClr val="DDF7F3"/>
          </a:solidFill>
          <a:ln w="19050">
            <a:solidFill>
              <a:srgbClr val="0FB5A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27432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price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2743200" y="3154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2743200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2743200" y="3977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4206240" y="1938528"/>
            <a:ext cx="987552" cy="201168"/>
          </a:xfrm>
          <a:prstGeom prst="roundRect">
            <a:avLst>
              <a:gd name="adj" fmla="val 50000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4206240" y="19385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4005072" y="21945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Govt. Hospital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4005072" y="24688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3931920" y="27432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₹3,200</a:t>
            </a:r>
            <a:endParaRPr lang="en-US" sz="2000" dirty="0"/>
          </a:p>
        </p:txBody>
      </p:sp>
      <p:sp>
        <p:nvSpPr>
          <p:cNvPr id="48" name="Text 43"/>
          <p:cNvSpPr txBox="1"/>
          <p:nvPr/>
        </p:nvSpPr>
        <p:spPr>
          <a:xfrm>
            <a:off x="3931920" y="31546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km</a:t>
            </a:r>
            <a:endParaRPr lang="en-US" sz="1300" dirty="0"/>
          </a:p>
        </p:txBody>
      </p:sp>
      <p:sp>
        <p:nvSpPr>
          <p:cNvPr id="49" name="Text 44"/>
          <p:cNvSpPr txBox="1"/>
          <p:nvPr/>
        </p:nvSpPr>
        <p:spPr>
          <a:xfrm>
            <a:off x="3931920" y="356616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/ 5</a:t>
            </a:r>
            <a:endParaRPr lang="en-US" sz="1300" dirty="0"/>
          </a:p>
        </p:txBody>
      </p:sp>
      <p:sp>
        <p:nvSpPr>
          <p:cNvPr id="50" name="Text 45"/>
          <p:cNvSpPr txBox="1"/>
          <p:nvPr/>
        </p:nvSpPr>
        <p:spPr>
          <a:xfrm>
            <a:off x="3931920" y="397764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5742432" y="1938528"/>
            <a:ext cx="987552" cy="201168"/>
          </a:xfrm>
          <a:prstGeom prst="roundRect">
            <a:avLst>
              <a:gd name="adj" fmla="val 50000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5742432" y="19385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5541264" y="21945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CityCare Hospital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5541264" y="24688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5468112" y="27432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₹6,800</a:t>
            </a:r>
            <a:endParaRPr lang="en-US" sz="1700" dirty="0"/>
          </a:p>
        </p:txBody>
      </p:sp>
      <p:sp>
        <p:nvSpPr>
          <p:cNvPr id="56" name="Text 51"/>
          <p:cNvSpPr txBox="1"/>
          <p:nvPr/>
        </p:nvSpPr>
        <p:spPr>
          <a:xfrm>
            <a:off x="5468112" y="31546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km</a:t>
            </a:r>
            <a:endParaRPr lang="en-US" sz="1300" dirty="0"/>
          </a:p>
        </p:txBody>
      </p:sp>
      <p:sp>
        <p:nvSpPr>
          <p:cNvPr id="57" name="Text 52"/>
          <p:cNvSpPr txBox="1"/>
          <p:nvPr/>
        </p:nvSpPr>
        <p:spPr>
          <a:xfrm>
            <a:off x="5468112" y="356616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/ 5</a:t>
            </a:r>
            <a:endParaRPr lang="en-US" sz="1300" dirty="0"/>
          </a:p>
        </p:txBody>
      </p:sp>
      <p:sp>
        <p:nvSpPr>
          <p:cNvPr id="58" name="Text 53"/>
          <p:cNvSpPr txBox="1"/>
          <p:nvPr/>
        </p:nvSpPr>
        <p:spPr>
          <a:xfrm>
            <a:off x="5468112" y="397764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7278624" y="1938528"/>
            <a:ext cx="987552" cy="20116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7278624" y="19385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rated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7077456" y="21945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Super Specialty</a:t>
            </a:r>
            <a:endParaRPr lang="en-US" sz="1100" dirty="0"/>
          </a:p>
        </p:txBody>
      </p:sp>
      <p:sp>
        <p:nvSpPr>
          <p:cNvPr id="62" name="Text 57"/>
          <p:cNvSpPr txBox="1"/>
          <p:nvPr/>
        </p:nvSpPr>
        <p:spPr>
          <a:xfrm>
            <a:off x="7077456" y="24688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00" dirty="0"/>
          </a:p>
        </p:txBody>
      </p:sp>
      <p:sp>
        <p:nvSpPr>
          <p:cNvPr id="63" name="Text 58"/>
          <p:cNvSpPr txBox="1"/>
          <p:nvPr/>
        </p:nvSpPr>
        <p:spPr>
          <a:xfrm>
            <a:off x="7004304" y="27432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₹9,500</a:t>
            </a:r>
            <a:endParaRPr lang="en-US" sz="1700" dirty="0"/>
          </a:p>
        </p:txBody>
      </p:sp>
      <p:sp>
        <p:nvSpPr>
          <p:cNvPr id="64" name="Text 59"/>
          <p:cNvSpPr txBox="1"/>
          <p:nvPr/>
        </p:nvSpPr>
        <p:spPr>
          <a:xfrm>
            <a:off x="7004304" y="315468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km</a:t>
            </a:r>
            <a:endParaRPr lang="en-US" sz="1300" dirty="0"/>
          </a:p>
        </p:txBody>
      </p:sp>
      <p:sp>
        <p:nvSpPr>
          <p:cNvPr id="65" name="Text 60"/>
          <p:cNvSpPr txBox="1"/>
          <p:nvPr/>
        </p:nvSpPr>
        <p:spPr>
          <a:xfrm>
            <a:off x="7004304" y="356616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</a:t>
            </a:r>
            <a:endParaRPr lang="en-US" sz="1300" dirty="0"/>
          </a:p>
        </p:txBody>
      </p:sp>
      <p:sp>
        <p:nvSpPr>
          <p:cNvPr id="66" name="Text 61"/>
          <p:cNvSpPr txBox="1"/>
          <p:nvPr/>
        </p:nvSpPr>
        <p:spPr>
          <a:xfrm>
            <a:off x="7004304" y="397764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</a:t>
            </a:r>
            <a:endParaRPr lang="en-US" sz="1300" dirty="0"/>
          </a:p>
        </p:txBody>
      </p:sp>
      <p:sp>
        <p:nvSpPr>
          <p:cNvPr id="67" name="Text 62"/>
          <p:cNvSpPr txBox="1"/>
          <p:nvPr/>
        </p:nvSpPr>
        <p:spPr>
          <a:xfrm>
            <a:off x="676656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291840" cy="3291840"/>
          </a:xfrm>
          <a:prstGeom prst="ellipse">
            <a:avLst/>
          </a:prstGeom>
          <a:solidFill>
            <a:srgbClr val="0FB5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840480"/>
            <a:ext cx="2377440" cy="2377440"/>
          </a:xfrm>
          <a:prstGeom prst="ellipse">
            <a:avLst/>
          </a:prstGeom>
          <a:solidFill>
            <a:srgbClr val="1D5FD1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0" y="2423160"/>
            <a:ext cx="0" cy="342900"/>
          </a:xfrm>
          <a:prstGeom prst="line">
            <a:avLst/>
          </a:prstGeom>
          <a:noFill/>
          <a:ln w="25400">
            <a:solidFill>
              <a:srgbClr val="8AA0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766060"/>
            <a:ext cx="6355080" cy="0"/>
          </a:xfrm>
          <a:prstGeom prst="line">
            <a:avLst/>
          </a:prstGeom>
          <a:noFill/>
          <a:ln w="25400">
            <a:solidFill>
              <a:srgbClr val="8AA0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766060"/>
            <a:ext cx="0" cy="342900"/>
          </a:xfrm>
          <a:prstGeom prst="line">
            <a:avLst/>
          </a:prstGeom>
          <a:noFill/>
          <a:ln w="25400">
            <a:solidFill>
              <a:srgbClr val="8AA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716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737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2130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21992" y="1783080"/>
            <a:ext cx="219456" cy="237744"/>
          </a:xfrm>
          <a:prstGeom prst="rightArrow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13716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087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8404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269748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2697480" y="2130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intake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325112" y="1783080"/>
            <a:ext cx="219456" cy="237744"/>
          </a:xfrm>
          <a:prstGeom prst="rightArrow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63440" y="13716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0876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9436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480060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800600" y="2130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treatment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28232" y="1783080"/>
            <a:ext cx="219456" cy="237744"/>
          </a:xfrm>
          <a:prstGeom prst="rightArrow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66560" y="137160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3407A"/>
          </a:solidFill>
          <a:ln w="12700">
            <a:solidFill>
              <a:srgbClr val="13407A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0876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0467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690372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Price Data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903720" y="2130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database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57200" y="31089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612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737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59436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Engine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94360" y="3867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type, distance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221992" y="3520440"/>
            <a:ext cx="219456" cy="237744"/>
          </a:xfrm>
          <a:prstGeom prst="rightArrow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2560320" y="31089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24612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38404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269748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Module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2697480" y="3867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metrics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4325112" y="3520440"/>
            <a:ext cx="219456" cy="237744"/>
          </a:xfrm>
          <a:prstGeom prst="rightArrow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4663440" y="31089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246120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59436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0" name="Text 41"/>
          <p:cNvSpPr txBox="1"/>
          <p:nvPr/>
        </p:nvSpPr>
        <p:spPr>
          <a:xfrm>
            <a:off x="480060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300" dirty="0"/>
          </a:p>
        </p:txBody>
      </p:sp>
      <p:sp>
        <p:nvSpPr>
          <p:cNvPr id="51" name="Text 42"/>
          <p:cNvSpPr txBox="1"/>
          <p:nvPr/>
        </p:nvSpPr>
        <p:spPr>
          <a:xfrm>
            <a:off x="4800600" y="3867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stats &amp; map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6428232" y="3520440"/>
            <a:ext cx="219456" cy="237744"/>
          </a:xfrm>
          <a:prstGeom prst="rightArrow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675120" y="31089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FF7A59"/>
            </a:solidFill>
            <a:prstDash val="dash"/>
          </a:ln>
        </p:spPr>
      </p:sp>
      <p:sp>
        <p:nvSpPr>
          <p:cNvPr id="54" name="Shape 45"/>
          <p:cNvSpPr/>
          <p:nvPr/>
        </p:nvSpPr>
        <p:spPr>
          <a:xfrm>
            <a:off x="6812280" y="324612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337560"/>
            <a:ext cx="182880" cy="18288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72694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directory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681228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Police &amp; Fire contacts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hospital &amp; price dataset powers every step — from chatbot answers to the comparison table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IMPLEMENTATION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student-buildable MVP stack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IN CAREKART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1682496"/>
            <a:ext cx="365760" cy="365760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73936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97280" y="16002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16002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or HTML/CSS/JS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16002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filters, comparison dashboard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221992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7280" y="222199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2743200" y="2221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/ Node.js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577840" y="22219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for search, filter and compare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57200" y="2843784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66928" y="292608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97280" y="28437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2743200" y="28437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5577840" y="28437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Hospital, treatment and price data (CSV/JSON import)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57200" y="3465576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66928" y="3547872"/>
            <a:ext cx="365760" cy="36576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39312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97280" y="34655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 layer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2743200" y="34655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(e.g. Claude)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577840" y="34655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that maps user needs to treatments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57200" y="408736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66928" y="4169664"/>
            <a:ext cx="365760" cy="365760"/>
          </a:xfrm>
          <a:prstGeom prst="ellipse">
            <a:avLst/>
          </a:prstGeom>
          <a:solidFill>
            <a:srgbClr val="1D5FD1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61104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97280" y="40873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hosting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2743200" y="40873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Maps API · Render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5577840" y="40873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view, distance and quick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2926080" cy="2926080"/>
          </a:xfrm>
          <a:prstGeom prst="ellipse">
            <a:avLst/>
          </a:prstGeom>
          <a:solidFill>
            <a:srgbClr val="0FB5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1D5F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206240"/>
            <a:ext cx="1828800" cy="1828800"/>
          </a:xfrm>
          <a:prstGeom prst="ellipse">
            <a:avLst/>
          </a:prstGeom>
          <a:solidFill>
            <a:srgbClr val="0FB5A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9184"/>
            <a:ext cx="164592" cy="164592"/>
          </a:xfrm>
          <a:prstGeom prst="mathPlus">
            <a:avLst/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IMPACT &amp; FUTURE SCOPE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today, valuable tomorrow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28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 |  IdeaBytes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28016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05740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MVP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hospital data (CSV / DB)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low-cost stack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by a small student team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46120" y="12801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28016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48590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9776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205740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search time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price transparency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hospital discovery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comparison, better choices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128016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7220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8590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76656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6217920" y="205740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live pricing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compatibility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integration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chatbot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beyond Delhi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FB5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1D5FD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6286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E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CareKart –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Healthcare Decisions Smarter, Faster &amp; More Transparent.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657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IdeaBytes  |  Suhana Lath  |  Sharwan Jaiswal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188720"/>
            <a:ext cx="2468880" cy="3108960"/>
          </a:xfrm>
          <a:prstGeom prst="roundRect">
            <a:avLst>
              <a:gd name="adj" fmla="val 6667"/>
            </a:avLst>
          </a:prstGeom>
          <a:solidFill>
            <a:srgbClr val="0FB5A6"/>
          </a:solidFill>
          <a:ln w="12700">
            <a:solidFill>
              <a:srgbClr val="0FB5A6"/>
            </a:solidFill>
            <a:prstDash val="solid"/>
          </a:ln>
          <a:effectLst>
            <a:outerShdw sx="100000" sy="100000" kx="0" ky="0" algn="bl" rotWithShape="0" blurRad="1778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86600" y="1463040"/>
            <a:ext cx="731520" cy="731520"/>
          </a:xfrm>
          <a:prstGeom prst="ellipse">
            <a:avLst/>
          </a:prstGeom>
          <a:solidFill>
            <a:srgbClr val="0B7C7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CareKart</dc:title>
  <dc:subject>PptxGenJS Presentation</dc:subject>
  <dc:creator>IdeaBytes</dc:creator>
  <cp:lastModifiedBy>IdeaBytes</cp:lastModifiedBy>
  <cp:revision>1</cp:revision>
  <dcterms:created xsi:type="dcterms:W3CDTF">2026-10-07T06:50:01Z</dcterms:created>
  <dcterms:modified xsi:type="dcterms:W3CDTF">2026-10-07T06:50:01Z</dcterms:modified>
</cp:coreProperties>
</file>